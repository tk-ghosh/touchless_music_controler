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74320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781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16:06:04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7183123"/>
            <a:ext cx="23317200" cy="1528064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23053043"/>
            <a:ext cx="20574000" cy="10596877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9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40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10942333"/>
            <a:ext cx="23660100" cy="18257517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29372573"/>
            <a:ext cx="23660100" cy="9601197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59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11684000"/>
            <a:ext cx="1165860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11684000"/>
            <a:ext cx="1165860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81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336810"/>
            <a:ext cx="2366010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10759443"/>
            <a:ext cx="11605020" cy="527303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6032480"/>
            <a:ext cx="11605020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10759443"/>
            <a:ext cx="11662173" cy="527303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6032480"/>
            <a:ext cx="11662173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13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0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76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926080"/>
            <a:ext cx="8847534" cy="1024128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6319530"/>
            <a:ext cx="13887450" cy="31191200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3167360"/>
            <a:ext cx="8847534" cy="24394163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3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926080"/>
            <a:ext cx="8847534" cy="1024128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6319530"/>
            <a:ext cx="13887450" cy="31191200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3167360"/>
            <a:ext cx="8847534" cy="24394163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47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12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2336800"/>
            <a:ext cx="5915025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2336800"/>
            <a:ext cx="17402175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47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2336810"/>
            <a:ext cx="2366010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11684000"/>
            <a:ext cx="2366010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40680650"/>
            <a:ext cx="617220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DA3FA-DB2A-471D-AF2F-2D224E82564D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40680650"/>
            <a:ext cx="925830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40680650"/>
            <a:ext cx="617220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E42D4-EBBD-4A7B-A58D-3737995FD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26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hyperlink" Target="https://www.dfrobot.com/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hyperlink" Target="https://www.arduino.c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5A064F4-074E-0D1B-EA71-62E602BDDF83}"/>
              </a:ext>
            </a:extLst>
          </p:cNvPr>
          <p:cNvSpPr/>
          <p:nvPr/>
        </p:nvSpPr>
        <p:spPr>
          <a:xfrm>
            <a:off x="1" y="1"/>
            <a:ext cx="27528134" cy="5330225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87469A9-128D-DA32-473F-741FE492E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18" y="845819"/>
            <a:ext cx="3337559" cy="33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ADD840-BCE3-39E6-C1A6-8864CFE203E3}"/>
              </a:ext>
            </a:extLst>
          </p:cNvPr>
          <p:cNvSpPr txBox="1"/>
          <p:nvPr/>
        </p:nvSpPr>
        <p:spPr>
          <a:xfrm>
            <a:off x="679938" y="515815"/>
            <a:ext cx="136925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800" dirty="0">
                <a:solidFill>
                  <a:schemeClr val="bg2"/>
                </a:solidFill>
              </a:rPr>
              <a:t>Touchless Music Controller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E3C97A2C-0B6F-EA7B-8120-2BCF8D53987F}"/>
              </a:ext>
            </a:extLst>
          </p:cNvPr>
          <p:cNvSpPr/>
          <p:nvPr/>
        </p:nvSpPr>
        <p:spPr>
          <a:xfrm>
            <a:off x="822566" y="3044246"/>
            <a:ext cx="4344051" cy="170309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A6B46B19-0D68-50DA-FEEB-1C3F124ABDBA}"/>
              </a:ext>
            </a:extLst>
          </p:cNvPr>
          <p:cNvSpPr/>
          <p:nvPr/>
        </p:nvSpPr>
        <p:spPr>
          <a:xfrm>
            <a:off x="5367081" y="2987706"/>
            <a:ext cx="4243754" cy="175963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F3A186C8-EB23-DD51-82EE-476E20E8E404}"/>
              </a:ext>
            </a:extLst>
          </p:cNvPr>
          <p:cNvSpPr/>
          <p:nvPr/>
        </p:nvSpPr>
        <p:spPr>
          <a:xfrm>
            <a:off x="9773463" y="2937060"/>
            <a:ext cx="4219331" cy="1799063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C4A9C3BA-66C6-38FC-8239-9ACC0EAAEC9A}"/>
              </a:ext>
            </a:extLst>
          </p:cNvPr>
          <p:cNvSpPr/>
          <p:nvPr/>
        </p:nvSpPr>
        <p:spPr>
          <a:xfrm>
            <a:off x="14217811" y="2946708"/>
            <a:ext cx="4647710" cy="178941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D76EDD-6AC8-A844-B1BA-CD2901C106B7}"/>
              </a:ext>
            </a:extLst>
          </p:cNvPr>
          <p:cNvSpPr txBox="1"/>
          <p:nvPr/>
        </p:nvSpPr>
        <p:spPr>
          <a:xfrm>
            <a:off x="878059" y="3458960"/>
            <a:ext cx="42885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TUTUL KUMAR GHOSH</a:t>
            </a:r>
          </a:p>
          <a:p>
            <a:r>
              <a:rPr lang="en-GB" sz="3200" dirty="0"/>
              <a:t>ID :  22-47813-2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1D1E07-65B6-A42F-2AD0-430C4625357C}"/>
              </a:ext>
            </a:extLst>
          </p:cNvPr>
          <p:cNvSpPr txBox="1"/>
          <p:nvPr/>
        </p:nvSpPr>
        <p:spPr>
          <a:xfrm>
            <a:off x="5343738" y="3415083"/>
            <a:ext cx="42885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P.M TASRIFUL ISLAM</a:t>
            </a:r>
          </a:p>
          <a:p>
            <a:r>
              <a:rPr lang="en-GB" sz="3200" dirty="0"/>
              <a:t>ID :  22-47885-2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289F3-6F9B-B5AF-6754-B95D7D3ACEEC}"/>
              </a:ext>
            </a:extLst>
          </p:cNvPr>
          <p:cNvSpPr txBox="1"/>
          <p:nvPr/>
        </p:nvSpPr>
        <p:spPr>
          <a:xfrm>
            <a:off x="9871843" y="3458960"/>
            <a:ext cx="42885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ANANYA DUTTA</a:t>
            </a:r>
          </a:p>
          <a:p>
            <a:r>
              <a:rPr lang="en-GB" sz="3200" dirty="0"/>
              <a:t>ID :  22-47966-2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F46F9C-C065-690A-15CF-EB70D689A0DC}"/>
              </a:ext>
            </a:extLst>
          </p:cNvPr>
          <p:cNvSpPr txBox="1"/>
          <p:nvPr/>
        </p:nvSpPr>
        <p:spPr>
          <a:xfrm>
            <a:off x="14275125" y="3281648"/>
            <a:ext cx="4989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MD.SAIF AHMED SOURAV</a:t>
            </a:r>
          </a:p>
          <a:p>
            <a:r>
              <a:rPr lang="en-GB" sz="3200" dirty="0"/>
              <a:t>ID :  22-46790-2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256C057-CDB1-D7EF-BA1C-0CB5D035A6B2}"/>
                  </a:ext>
                </a:extLst>
              </p14:cNvPr>
              <p14:cNvContentPartPr/>
              <p14:nvPr/>
            </p14:nvContentPartPr>
            <p14:xfrm>
              <a:off x="-11167766" y="3201789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256C057-CDB1-D7EF-BA1C-0CB5D035A6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1173886" y="3195669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9A9E9F-017E-243B-4A1D-0239C40EFB2B}"/>
              </a:ext>
            </a:extLst>
          </p:cNvPr>
          <p:cNvCxnSpPr>
            <a:cxnSpLocks/>
          </p:cNvCxnSpPr>
          <p:nvPr/>
        </p:nvCxnSpPr>
        <p:spPr>
          <a:xfrm>
            <a:off x="13715999" y="6084277"/>
            <a:ext cx="0" cy="378069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03D1300-CDE2-0065-A3D7-969E2A5CDD08}"/>
              </a:ext>
            </a:extLst>
          </p:cNvPr>
          <p:cNvSpPr/>
          <p:nvPr/>
        </p:nvSpPr>
        <p:spPr>
          <a:xfrm>
            <a:off x="101176" y="6170547"/>
            <a:ext cx="27229645" cy="380223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79F2D96-E070-4B40-2EC1-B48AB013E63B}"/>
              </a:ext>
            </a:extLst>
          </p:cNvPr>
          <p:cNvSpPr/>
          <p:nvPr/>
        </p:nvSpPr>
        <p:spPr>
          <a:xfrm>
            <a:off x="9924359" y="5723760"/>
            <a:ext cx="7163194" cy="113665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ABSTRACT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BABFF9-3391-0578-341D-A80D6CBD9019}"/>
              </a:ext>
            </a:extLst>
          </p:cNvPr>
          <p:cNvSpPr txBox="1"/>
          <p:nvPr/>
        </p:nvSpPr>
        <p:spPr>
          <a:xfrm>
            <a:off x="634880" y="7152157"/>
            <a:ext cx="2635024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This project develops a gesture-controlled music player using Arduino UNO, </a:t>
            </a:r>
            <a:r>
              <a:rPr lang="en-GB" sz="4400" dirty="0" err="1"/>
              <a:t>DFPlayer</a:t>
            </a:r>
            <a:r>
              <a:rPr lang="en-GB" sz="4400" dirty="0"/>
              <a:t> Mini, ultrasonic sensors, and a speaker. Hand gestures replace physical buttons to control play/pause, track navigation, and volume, demonstrating a practical Human-Computer Interaction (HCI) system that enhances touchless accessibility and user experience.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E38E367-DD0B-83D3-908F-536155F2414F}"/>
              </a:ext>
            </a:extLst>
          </p:cNvPr>
          <p:cNvSpPr/>
          <p:nvPr/>
        </p:nvSpPr>
        <p:spPr>
          <a:xfrm>
            <a:off x="142374" y="10878424"/>
            <a:ext cx="27229645" cy="54372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5F9216C-2B9A-F41A-CCDF-3D1E9937B82C}"/>
              </a:ext>
            </a:extLst>
          </p:cNvPr>
          <p:cNvSpPr/>
          <p:nvPr/>
        </p:nvSpPr>
        <p:spPr>
          <a:xfrm>
            <a:off x="9885570" y="10114284"/>
            <a:ext cx="7806616" cy="13804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6A391D-670E-7224-16AA-B9A49A5AD617}"/>
              </a:ext>
            </a:extLst>
          </p:cNvPr>
          <p:cNvSpPr/>
          <p:nvPr/>
        </p:nvSpPr>
        <p:spPr>
          <a:xfrm>
            <a:off x="738177" y="11520629"/>
            <a:ext cx="7971693" cy="44457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1B9157-25D6-0178-6160-1A7FA6B242D0}"/>
              </a:ext>
            </a:extLst>
          </p:cNvPr>
          <p:cNvSpPr/>
          <p:nvPr/>
        </p:nvSpPr>
        <p:spPr>
          <a:xfrm>
            <a:off x="9903471" y="12005288"/>
            <a:ext cx="8166362" cy="382727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D09714-FE5F-4304-E562-FD57AAECBA62}"/>
              </a:ext>
            </a:extLst>
          </p:cNvPr>
          <p:cNvSpPr/>
          <p:nvPr/>
        </p:nvSpPr>
        <p:spPr>
          <a:xfrm>
            <a:off x="18685316" y="11517203"/>
            <a:ext cx="7806611" cy="45108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89F9FF-E73E-C26E-4C3F-46BF1C3C8459}"/>
              </a:ext>
            </a:extLst>
          </p:cNvPr>
          <p:cNvSpPr txBox="1"/>
          <p:nvPr/>
        </p:nvSpPr>
        <p:spPr>
          <a:xfrm>
            <a:off x="11168878" y="10382188"/>
            <a:ext cx="64072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7014CC0-3909-D3BD-3C99-251F05D75EA8}"/>
              </a:ext>
            </a:extLst>
          </p:cNvPr>
          <p:cNvSpPr/>
          <p:nvPr/>
        </p:nvSpPr>
        <p:spPr>
          <a:xfrm>
            <a:off x="1063759" y="11413503"/>
            <a:ext cx="7163194" cy="9385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A0F7B08-AE34-8B12-8130-EBCACC86D8F4}"/>
              </a:ext>
            </a:extLst>
          </p:cNvPr>
          <p:cNvSpPr/>
          <p:nvPr/>
        </p:nvSpPr>
        <p:spPr>
          <a:xfrm>
            <a:off x="10346422" y="11624632"/>
            <a:ext cx="7163194" cy="9385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4BC4844-D58F-139B-CE68-0E3041B905E5}"/>
              </a:ext>
            </a:extLst>
          </p:cNvPr>
          <p:cNvSpPr/>
          <p:nvPr/>
        </p:nvSpPr>
        <p:spPr>
          <a:xfrm>
            <a:off x="19033125" y="11292186"/>
            <a:ext cx="7163194" cy="9385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95D4E6-0D5E-8282-80C1-C5CA5BE3D202}"/>
              </a:ext>
            </a:extLst>
          </p:cNvPr>
          <p:cNvSpPr txBox="1"/>
          <p:nvPr/>
        </p:nvSpPr>
        <p:spPr>
          <a:xfrm>
            <a:off x="2566977" y="11536894"/>
            <a:ext cx="3600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Problem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AAAD9C-8CB7-08EF-FBE3-99D8C48D97BE}"/>
              </a:ext>
            </a:extLst>
          </p:cNvPr>
          <p:cNvSpPr txBox="1"/>
          <p:nvPr/>
        </p:nvSpPr>
        <p:spPr>
          <a:xfrm>
            <a:off x="12162395" y="11723680"/>
            <a:ext cx="3600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Solution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57F002-D2F4-95BE-8BBF-BCB6B73924E2}"/>
              </a:ext>
            </a:extLst>
          </p:cNvPr>
          <p:cNvSpPr txBox="1"/>
          <p:nvPr/>
        </p:nvSpPr>
        <p:spPr>
          <a:xfrm>
            <a:off x="20692588" y="11467252"/>
            <a:ext cx="3600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Key Findings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303A2C-B5FF-C79D-9C3C-2DA4173B65E7}"/>
              </a:ext>
            </a:extLst>
          </p:cNvPr>
          <p:cNvSpPr txBox="1"/>
          <p:nvPr/>
        </p:nvSpPr>
        <p:spPr>
          <a:xfrm>
            <a:off x="936298" y="12809095"/>
            <a:ext cx="757905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/>
              <a:t>Traditional music players require physical contact (buttons or touchscreens), which is inconvenient when hands are occupied, dirty, or in environments demanding hygiene.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0F6223-D645-2E8F-7096-D610BE969E05}"/>
              </a:ext>
            </a:extLst>
          </p:cNvPr>
          <p:cNvSpPr txBox="1"/>
          <p:nvPr/>
        </p:nvSpPr>
        <p:spPr>
          <a:xfrm>
            <a:off x="10076099" y="12532096"/>
            <a:ext cx="757905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 err="1"/>
              <a:t>GestureTune</a:t>
            </a:r>
            <a:r>
              <a:rPr lang="en-GB" sz="3000" dirty="0"/>
              <a:t> utilizes affordable ultrasonic sensors to detect hand gestures, translating them into commands for an Arduino-based music player, eliminating the need for physical contact.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3B7234-3585-5E24-19C5-18A5C5B7DC9F}"/>
              </a:ext>
            </a:extLst>
          </p:cNvPr>
          <p:cNvSpPr txBox="1"/>
          <p:nvPr/>
        </p:nvSpPr>
        <p:spPr>
          <a:xfrm>
            <a:off x="18722115" y="12352085"/>
            <a:ext cx="80881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/>
              <a:t>Ultrasonic Gesture Recognition: Low-cost, real-time hand detection without complex hardware.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/>
              <a:t>Arduino UNO &amp; </a:t>
            </a:r>
            <a:r>
              <a:rPr lang="en-GB" sz="3000" dirty="0" err="1"/>
              <a:t>DFPlayer</a:t>
            </a:r>
            <a:r>
              <a:rPr lang="en-GB" sz="3000" dirty="0"/>
              <a:t> Mini: A simple, robust, and portable hardware core.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000" dirty="0"/>
              <a:t>Intuitive HCI Mapping: Natural gestures directly mapped to music controls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0EF0F74-031C-02EA-6261-94090026D635}"/>
              </a:ext>
            </a:extLst>
          </p:cNvPr>
          <p:cNvSpPr/>
          <p:nvPr/>
        </p:nvSpPr>
        <p:spPr>
          <a:xfrm>
            <a:off x="-48165" y="17724497"/>
            <a:ext cx="8758035" cy="91082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00A8B3C-F60D-1EE9-F576-7581186CB82D}"/>
              </a:ext>
            </a:extLst>
          </p:cNvPr>
          <p:cNvSpPr/>
          <p:nvPr/>
        </p:nvSpPr>
        <p:spPr>
          <a:xfrm>
            <a:off x="188959" y="16628069"/>
            <a:ext cx="6608073" cy="1566754"/>
          </a:xfrm>
          <a:prstGeom prst="roundRect">
            <a:avLst>
              <a:gd name="adj" fmla="val 36121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6F3041-8699-D33D-032E-D0635EC6A250}"/>
              </a:ext>
            </a:extLst>
          </p:cNvPr>
          <p:cNvSpPr txBox="1"/>
          <p:nvPr/>
        </p:nvSpPr>
        <p:spPr>
          <a:xfrm>
            <a:off x="624780" y="16858502"/>
            <a:ext cx="63501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BACKGROUND AND MOTIVATION</a:t>
            </a:r>
          </a:p>
          <a:p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D0E717-FDAF-458C-6D37-6CCB77512783}"/>
              </a:ext>
            </a:extLst>
          </p:cNvPr>
          <p:cNvSpPr txBox="1"/>
          <p:nvPr/>
        </p:nvSpPr>
        <p:spPr>
          <a:xfrm>
            <a:off x="186313" y="18411380"/>
            <a:ext cx="89143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/>
              <a:t>Hands-free control for kitchens, labs, medical settings, exhibits, accessibility, and automotive systems.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/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GB" sz="3600" dirty="0"/>
          </a:p>
        </p:txBody>
      </p:sp>
      <p:pic>
        <p:nvPicPr>
          <p:cNvPr id="1027" name="Picture 102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6830BAC-BD2B-8415-FBBC-3CEA5AC7C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08653" y="18978614"/>
            <a:ext cx="11184882" cy="8259625"/>
          </a:xfrm>
          <a:prstGeom prst="rect">
            <a:avLst/>
          </a:prstGeom>
        </p:spPr>
      </p:pic>
      <p:sp>
        <p:nvSpPr>
          <p:cNvPr id="1030" name="Rectangle 1029">
            <a:extLst>
              <a:ext uri="{FF2B5EF4-FFF2-40B4-BE49-F238E27FC236}">
                <a16:creationId xmlns:a16="http://schemas.microsoft.com/office/drawing/2014/main" id="{6C9CF2AA-C66D-07B2-75C0-9915F9210F7E}"/>
              </a:ext>
            </a:extLst>
          </p:cNvPr>
          <p:cNvSpPr/>
          <p:nvPr/>
        </p:nvSpPr>
        <p:spPr>
          <a:xfrm>
            <a:off x="-40506" y="42153840"/>
            <a:ext cx="27533175" cy="173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939AA026-67A1-5BD8-06F8-93CC471BBEE3}"/>
              </a:ext>
            </a:extLst>
          </p:cNvPr>
          <p:cNvSpPr/>
          <p:nvPr/>
        </p:nvSpPr>
        <p:spPr>
          <a:xfrm>
            <a:off x="-48164" y="28110693"/>
            <a:ext cx="8758034" cy="65386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4" name="Picture 1033" descr="A diagram of a company&#10;&#10;AI-generated content may be incorrect.">
            <a:extLst>
              <a:ext uri="{FF2B5EF4-FFF2-40B4-BE49-F238E27FC236}">
                <a16:creationId xmlns:a16="http://schemas.microsoft.com/office/drawing/2014/main" id="{1B0E0D04-A3A7-0B84-E8E5-0E8B051C2E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7247" y="27999182"/>
            <a:ext cx="9377916" cy="7047316"/>
          </a:xfrm>
          <a:prstGeom prst="rect">
            <a:avLst/>
          </a:prstGeom>
        </p:spPr>
      </p:pic>
      <p:pic>
        <p:nvPicPr>
          <p:cNvPr id="1036" name="Picture 1035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BCD18E43-40CE-F7E9-9055-D77CE50933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3" t="23548" r="14044" b="21545"/>
          <a:stretch>
            <a:fillRect/>
          </a:stretch>
        </p:blipFill>
        <p:spPr>
          <a:xfrm>
            <a:off x="24911" y="34783887"/>
            <a:ext cx="8721772" cy="63132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467ADFF9-1B4D-8F95-9432-511B26A8CF17}"/>
              </a:ext>
            </a:extLst>
          </p:cNvPr>
          <p:cNvSpPr/>
          <p:nvPr/>
        </p:nvSpPr>
        <p:spPr>
          <a:xfrm>
            <a:off x="-48165" y="27114249"/>
            <a:ext cx="6305928" cy="159573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9BE34D9-320F-09A1-CFE3-4AC4688F0CA0}"/>
              </a:ext>
            </a:extLst>
          </p:cNvPr>
          <p:cNvSpPr txBox="1"/>
          <p:nvPr/>
        </p:nvSpPr>
        <p:spPr>
          <a:xfrm>
            <a:off x="465346" y="27304711"/>
            <a:ext cx="5113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Structure of Hardware Model</a:t>
            </a:r>
            <a:endParaRPr lang="en-GB" sz="3600" dirty="0"/>
          </a:p>
        </p:txBody>
      </p:sp>
      <p:sp>
        <p:nvSpPr>
          <p:cNvPr id="1045" name="Rectangle: Rounded Corners 1044">
            <a:extLst>
              <a:ext uri="{FF2B5EF4-FFF2-40B4-BE49-F238E27FC236}">
                <a16:creationId xmlns:a16="http://schemas.microsoft.com/office/drawing/2014/main" id="{99C84D54-A737-0D23-4438-87F3CCC18120}"/>
              </a:ext>
            </a:extLst>
          </p:cNvPr>
          <p:cNvSpPr/>
          <p:nvPr/>
        </p:nvSpPr>
        <p:spPr>
          <a:xfrm>
            <a:off x="9186013" y="17304051"/>
            <a:ext cx="9555465" cy="57696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8" name="Rectangle: Rounded Corners 1047">
            <a:extLst>
              <a:ext uri="{FF2B5EF4-FFF2-40B4-BE49-F238E27FC236}">
                <a16:creationId xmlns:a16="http://schemas.microsoft.com/office/drawing/2014/main" id="{D8CCC336-AA17-3B3E-81D6-EB14447CDF16}"/>
              </a:ext>
            </a:extLst>
          </p:cNvPr>
          <p:cNvSpPr/>
          <p:nvPr/>
        </p:nvSpPr>
        <p:spPr>
          <a:xfrm>
            <a:off x="9100669" y="16692377"/>
            <a:ext cx="4816565" cy="14360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4AE51BB8-E92A-E50A-3E46-05B8FB72199D}"/>
              </a:ext>
            </a:extLst>
          </p:cNvPr>
          <p:cNvSpPr txBox="1"/>
          <p:nvPr/>
        </p:nvSpPr>
        <p:spPr>
          <a:xfrm>
            <a:off x="9415783" y="16853235"/>
            <a:ext cx="461534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 Structure</a:t>
            </a:r>
          </a:p>
          <a:p>
            <a:r>
              <a:rPr lang="en-GB" sz="3600" b="1" dirty="0"/>
              <a:t> of Algorithm Model</a:t>
            </a:r>
            <a:endParaRPr lang="en-GB" sz="3600" dirty="0"/>
          </a:p>
          <a:p>
            <a:endParaRPr lang="en-GB" sz="3200" dirty="0"/>
          </a:p>
        </p:txBody>
      </p:sp>
      <p:sp>
        <p:nvSpPr>
          <p:cNvPr id="1050" name="Rectangle: Rounded Corners 1049">
            <a:extLst>
              <a:ext uri="{FF2B5EF4-FFF2-40B4-BE49-F238E27FC236}">
                <a16:creationId xmlns:a16="http://schemas.microsoft.com/office/drawing/2014/main" id="{F95AABE8-78F4-ED46-36B9-24CBCCAA4580}"/>
              </a:ext>
            </a:extLst>
          </p:cNvPr>
          <p:cNvSpPr/>
          <p:nvPr/>
        </p:nvSpPr>
        <p:spPr>
          <a:xfrm>
            <a:off x="9240211" y="23840734"/>
            <a:ext cx="9445105" cy="181328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925AD02B-DD3A-C444-AAE9-A8A13652B13F}"/>
              </a:ext>
            </a:extLst>
          </p:cNvPr>
          <p:cNvSpPr/>
          <p:nvPr/>
        </p:nvSpPr>
        <p:spPr>
          <a:xfrm>
            <a:off x="9279895" y="23476702"/>
            <a:ext cx="4751232" cy="139182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58" name="Picture 1057" descr="A blue arrows with white text&#10;&#10;AI-generated content may be incorrect.">
            <a:extLst>
              <a:ext uri="{FF2B5EF4-FFF2-40B4-BE49-F238E27FC236}">
                <a16:creationId xmlns:a16="http://schemas.microsoft.com/office/drawing/2014/main" id="{7349069F-7CCB-7432-409A-12DF83BF8D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033" y="17896221"/>
            <a:ext cx="10549846" cy="5059770"/>
          </a:xfrm>
          <a:prstGeom prst="rect">
            <a:avLst/>
          </a:prstGeom>
        </p:spPr>
      </p:pic>
      <p:sp>
        <p:nvSpPr>
          <p:cNvPr id="1061" name="TextBox 1060">
            <a:extLst>
              <a:ext uri="{FF2B5EF4-FFF2-40B4-BE49-F238E27FC236}">
                <a16:creationId xmlns:a16="http://schemas.microsoft.com/office/drawing/2014/main" id="{D0401D71-3307-B22D-4A8C-589A45808D0E}"/>
              </a:ext>
            </a:extLst>
          </p:cNvPr>
          <p:cNvSpPr txBox="1"/>
          <p:nvPr/>
        </p:nvSpPr>
        <p:spPr>
          <a:xfrm>
            <a:off x="9585783" y="23625988"/>
            <a:ext cx="3720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User Data Survey Report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0A0E1544-1BFD-65B6-202C-AED07A0399B1}"/>
              </a:ext>
            </a:extLst>
          </p:cNvPr>
          <p:cNvSpPr txBox="1"/>
          <p:nvPr/>
        </p:nvSpPr>
        <p:spPr>
          <a:xfrm>
            <a:off x="9347455" y="24917896"/>
            <a:ext cx="90363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survey was conducted to evaluate the usability and effectiveness of the gesture-controlled music player.. Participants were asked about ease of use, accuracy, comfort, and satisfaction with the system.</a:t>
            </a:r>
          </a:p>
        </p:txBody>
      </p:sp>
      <p:pic>
        <p:nvPicPr>
          <p:cNvPr id="1064" name="Picture 1063" descr="A pie chart with text on it&#10;&#10;AI-generated content may be incorrect.">
            <a:extLst>
              <a:ext uri="{FF2B5EF4-FFF2-40B4-BE49-F238E27FC236}">
                <a16:creationId xmlns:a16="http://schemas.microsoft.com/office/drawing/2014/main" id="{EDA87745-3486-F918-1C47-25DF026B22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835" y="34507756"/>
            <a:ext cx="8772961" cy="24365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66" name="Picture 1065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646DF62F-0EB5-2AA4-C657-8F703D6B63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4564" y="27028763"/>
            <a:ext cx="4399712" cy="29720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68" name="Picture 1067" descr="A graph with purple rectangles&#10;&#10;AI-generated content may be incorrect.">
            <a:extLst>
              <a:ext uri="{FF2B5EF4-FFF2-40B4-BE49-F238E27FC236}">
                <a16:creationId xmlns:a16="http://schemas.microsoft.com/office/drawing/2014/main" id="{EA5E7445-EDE0-A8C0-6176-1D89FD8141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783" y="30158883"/>
            <a:ext cx="9094799" cy="40985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72" name="Picture 1071" descr="A screenshot of a graph&#10;&#10;AI-generated content may be incorrect.">
            <a:extLst>
              <a:ext uri="{FF2B5EF4-FFF2-40B4-BE49-F238E27FC236}">
                <a16:creationId xmlns:a16="http://schemas.microsoft.com/office/drawing/2014/main" id="{C9B6F1A8-478C-C206-FFA9-1188F9C554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835" y="37180763"/>
            <a:ext cx="8772962" cy="43311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74" name="Picture 1073" descr="A pie chart with text&#10;&#10;AI-generated content may be incorrect.">
            <a:extLst>
              <a:ext uri="{FF2B5EF4-FFF2-40B4-BE49-F238E27FC236}">
                <a16:creationId xmlns:a16="http://schemas.microsoft.com/office/drawing/2014/main" id="{4B0C57C1-45A6-467B-7F3E-F359E8753F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479" y="27006611"/>
            <a:ext cx="4751232" cy="29720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75" name="Rectangle: Rounded Corners 1074">
            <a:extLst>
              <a:ext uri="{FF2B5EF4-FFF2-40B4-BE49-F238E27FC236}">
                <a16:creationId xmlns:a16="http://schemas.microsoft.com/office/drawing/2014/main" id="{5E22F5AA-97E3-7612-19A3-8D46560E07DA}"/>
              </a:ext>
            </a:extLst>
          </p:cNvPr>
          <p:cNvSpPr/>
          <p:nvPr/>
        </p:nvSpPr>
        <p:spPr>
          <a:xfrm>
            <a:off x="19056593" y="17165715"/>
            <a:ext cx="8233032" cy="111806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6" name="Rectangle: Rounded Corners 1075">
            <a:extLst>
              <a:ext uri="{FF2B5EF4-FFF2-40B4-BE49-F238E27FC236}">
                <a16:creationId xmlns:a16="http://schemas.microsoft.com/office/drawing/2014/main" id="{EDDEAB21-3CF4-44DC-B66C-25EE817EC26E}"/>
              </a:ext>
            </a:extLst>
          </p:cNvPr>
          <p:cNvSpPr/>
          <p:nvPr/>
        </p:nvSpPr>
        <p:spPr>
          <a:xfrm>
            <a:off x="19033125" y="16809748"/>
            <a:ext cx="4372451" cy="11920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BF7EA88-C5C5-22FE-72C5-7FD4453AD467}"/>
              </a:ext>
            </a:extLst>
          </p:cNvPr>
          <p:cNvSpPr txBox="1"/>
          <p:nvPr/>
        </p:nvSpPr>
        <p:spPr>
          <a:xfrm>
            <a:off x="19333663" y="16898672"/>
            <a:ext cx="4870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Result and Future Improvements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0FD47A19-CEFC-0687-F46E-8E49E20FD16D}"/>
              </a:ext>
            </a:extLst>
          </p:cNvPr>
          <p:cNvSpPr txBox="1"/>
          <p:nvPr/>
        </p:nvSpPr>
        <p:spPr>
          <a:xfrm>
            <a:off x="19151033" y="18279260"/>
            <a:ext cx="8377102" cy="10341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/>
              <a:t>All core functions  were executed correctly upon gesture input. User-Friendly .. The entire system was built using affordable, off-the-shelf </a:t>
            </a:r>
            <a:r>
              <a:rPr lang="en-GB" sz="3600" dirty="0" err="1"/>
              <a:t>components.Majority</a:t>
            </a:r>
            <a:r>
              <a:rPr lang="en-GB" sz="3600" dirty="0"/>
              <a:t> found gestures intuitive (53%) and rated satisfaction highly (3.93/5).60% confirmed detection range sufficiency, supporting design choices. Over half of users saw practical application, indicating strong adoption promise.</a:t>
            </a:r>
          </a:p>
          <a:p>
            <a:endParaRPr lang="en-GB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/>
              <a:t>Extend detection range beyond 20cm</a:t>
            </a:r>
          </a:p>
          <a:p>
            <a:r>
              <a:rPr lang="en-GB" sz="3600" dirty="0"/>
              <a:t>	Add LED feedback for gesture 	confirmation</a:t>
            </a:r>
          </a:p>
          <a:p>
            <a:r>
              <a:rPr lang="en-GB" sz="3600" dirty="0"/>
              <a:t>	Implement Bluetooth for wireless 	audio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081" name="Rectangle: Rounded Corners 1080">
            <a:extLst>
              <a:ext uri="{FF2B5EF4-FFF2-40B4-BE49-F238E27FC236}">
                <a16:creationId xmlns:a16="http://schemas.microsoft.com/office/drawing/2014/main" id="{EFDF3EED-7383-81F6-67C8-5D5951F62B63}"/>
              </a:ext>
            </a:extLst>
          </p:cNvPr>
          <p:cNvSpPr/>
          <p:nvPr/>
        </p:nvSpPr>
        <p:spPr>
          <a:xfrm>
            <a:off x="19178844" y="28898010"/>
            <a:ext cx="8120937" cy="62403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2" name="Rectangle: Rounded Corners 1081">
            <a:extLst>
              <a:ext uri="{FF2B5EF4-FFF2-40B4-BE49-F238E27FC236}">
                <a16:creationId xmlns:a16="http://schemas.microsoft.com/office/drawing/2014/main" id="{DE57E7DD-E23C-F66D-2202-69701B84B8E2}"/>
              </a:ext>
            </a:extLst>
          </p:cNvPr>
          <p:cNvSpPr/>
          <p:nvPr/>
        </p:nvSpPr>
        <p:spPr>
          <a:xfrm>
            <a:off x="19151033" y="28620553"/>
            <a:ext cx="3970387" cy="11135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E732EFF2-7AE2-A89D-B110-E0523892DE3F}"/>
              </a:ext>
            </a:extLst>
          </p:cNvPr>
          <p:cNvSpPr txBox="1"/>
          <p:nvPr/>
        </p:nvSpPr>
        <p:spPr>
          <a:xfrm>
            <a:off x="19223880" y="30008252"/>
            <a:ext cx="81832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The gesture-controlled music player successfully demonstrates a functional and accessible HCI system. User feedback confirms its intuitive operation and real-world applicability. Future work will focus on expanding gesture complexity and enhancing user customization features.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9B4AA025-5CC5-609D-9A0C-D4EFA3933482}"/>
              </a:ext>
            </a:extLst>
          </p:cNvPr>
          <p:cNvSpPr txBox="1"/>
          <p:nvPr/>
        </p:nvSpPr>
        <p:spPr>
          <a:xfrm>
            <a:off x="19659600" y="28722457"/>
            <a:ext cx="2522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Conclusion</a:t>
            </a:r>
            <a:endParaRPr lang="en-GB" sz="3600" dirty="0"/>
          </a:p>
        </p:txBody>
      </p:sp>
      <p:sp>
        <p:nvSpPr>
          <p:cNvPr id="1085" name="Rectangle: Rounded Corners 1084">
            <a:extLst>
              <a:ext uri="{FF2B5EF4-FFF2-40B4-BE49-F238E27FC236}">
                <a16:creationId xmlns:a16="http://schemas.microsoft.com/office/drawing/2014/main" id="{25B3675B-7F91-9965-D3C1-EBDC5ADFA9C8}"/>
              </a:ext>
            </a:extLst>
          </p:cNvPr>
          <p:cNvSpPr/>
          <p:nvPr/>
        </p:nvSpPr>
        <p:spPr>
          <a:xfrm>
            <a:off x="19094871" y="35687828"/>
            <a:ext cx="8120937" cy="62403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6" name="Rectangle: Rounded Corners 1085">
            <a:extLst>
              <a:ext uri="{FF2B5EF4-FFF2-40B4-BE49-F238E27FC236}">
                <a16:creationId xmlns:a16="http://schemas.microsoft.com/office/drawing/2014/main" id="{3E042500-8188-D685-B9F8-0889E170614E}"/>
              </a:ext>
            </a:extLst>
          </p:cNvPr>
          <p:cNvSpPr/>
          <p:nvPr/>
        </p:nvSpPr>
        <p:spPr>
          <a:xfrm>
            <a:off x="19060425" y="35453742"/>
            <a:ext cx="3970387" cy="11135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285D6E29-6557-27BC-BF4D-5E7B3CBF0F8D}"/>
              </a:ext>
            </a:extLst>
          </p:cNvPr>
          <p:cNvSpPr txBox="1"/>
          <p:nvPr/>
        </p:nvSpPr>
        <p:spPr>
          <a:xfrm>
            <a:off x="19523768" y="35710634"/>
            <a:ext cx="25221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References</a:t>
            </a:r>
          </a:p>
          <a:p>
            <a:br>
              <a:rPr lang="en-GB" sz="3600" dirty="0"/>
            </a:br>
            <a:endParaRPr lang="en-GB" sz="3600" dirty="0"/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03B75A14-3D87-2C44-E0A3-A594FB91FAF5}"/>
              </a:ext>
            </a:extLst>
          </p:cNvPr>
          <p:cNvSpPr txBox="1"/>
          <p:nvPr/>
        </p:nvSpPr>
        <p:spPr>
          <a:xfrm>
            <a:off x="19284237" y="37044291"/>
            <a:ext cx="793157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Norman, D. A. (2013). </a:t>
            </a:r>
            <a:r>
              <a:rPr lang="en-GB" sz="3600" i="1" dirty="0"/>
              <a:t>The Design of Everyday Things</a:t>
            </a:r>
            <a:r>
              <a:rPr lang="en-GB" sz="3600" dirty="0"/>
              <a:t>. Revised Edition. Basic Books.</a:t>
            </a:r>
          </a:p>
          <a:p>
            <a:r>
              <a:rPr lang="en-GB" sz="3600" dirty="0"/>
              <a:t>Arduino LLC. (2022). </a:t>
            </a:r>
            <a:r>
              <a:rPr lang="en-GB" sz="3600" i="1" dirty="0"/>
              <a:t>Arduino UNO Technical Specifications</a:t>
            </a:r>
            <a:r>
              <a:rPr lang="en-GB" sz="3600" dirty="0"/>
              <a:t>. </a:t>
            </a:r>
            <a:r>
              <a:rPr lang="en-GB" sz="3600" dirty="0">
                <a:hlinkClick r:id="rId14"/>
              </a:rPr>
              <a:t>https://www.arduino.cc/</a:t>
            </a:r>
            <a:endParaRPr lang="en-GB" sz="3600" dirty="0"/>
          </a:p>
          <a:p>
            <a:r>
              <a:rPr lang="en-GB" sz="3600" dirty="0" err="1"/>
              <a:t>DFRobot</a:t>
            </a:r>
            <a:r>
              <a:rPr lang="en-GB" sz="3600" dirty="0"/>
              <a:t>. (2021). </a:t>
            </a:r>
            <a:r>
              <a:rPr lang="en-GB" sz="3600" i="1" dirty="0" err="1"/>
              <a:t>DFPlayer</a:t>
            </a:r>
            <a:r>
              <a:rPr lang="en-GB" sz="3600" i="1" dirty="0"/>
              <a:t> Mini User Manual</a:t>
            </a:r>
            <a:r>
              <a:rPr lang="en-GB" sz="3600" dirty="0"/>
              <a:t>. </a:t>
            </a:r>
            <a:r>
              <a:rPr lang="en-GB" sz="3600" dirty="0">
                <a:hlinkClick r:id="rId15"/>
              </a:rPr>
              <a:t>https://www.dfrobot.com/</a:t>
            </a:r>
            <a:endParaRPr lang="en-GB" sz="3600" dirty="0"/>
          </a:p>
          <a:p>
            <a:endParaRPr lang="en-GB" sz="2800" dirty="0"/>
          </a:p>
          <a:p>
            <a:endParaRPr lang="en-GB" sz="2800" dirty="0"/>
          </a:p>
          <a:p>
            <a:endParaRPr lang="en-GB" dirty="0"/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58A66F9E-1EFF-F0E6-8974-536FF9E554AA}"/>
              </a:ext>
            </a:extLst>
          </p:cNvPr>
          <p:cNvSpPr txBox="1"/>
          <p:nvPr/>
        </p:nvSpPr>
        <p:spPr>
          <a:xfrm>
            <a:off x="163963" y="42506048"/>
            <a:ext cx="19415760" cy="134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6"/>
              </a:spcAft>
              <a:defRPr/>
            </a:pPr>
            <a:r>
              <a:rPr lang="en-US" alt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Science, Faculty of Science and Technology.</a:t>
            </a:r>
          </a:p>
          <a:p>
            <a:pPr>
              <a:spcAft>
                <a:spcPts val="796"/>
              </a:spcAft>
              <a:defRPr/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American International University-Bangladesh (AIUB)</a:t>
            </a:r>
          </a:p>
          <a:p>
            <a:pPr>
              <a:spcAft>
                <a:spcPts val="83"/>
              </a:spcAft>
              <a:defRPr/>
            </a:pPr>
            <a:endParaRPr lang="en-US" altLang="en-US" sz="18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021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</TotalTime>
  <Words>455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TUTUL KUMAR GHOSH</dc:creator>
  <cp:lastModifiedBy>TUTUL KUMAR GHOSH</cp:lastModifiedBy>
  <cp:revision>4</cp:revision>
  <dcterms:created xsi:type="dcterms:W3CDTF">2025-09-26T12:21:55Z</dcterms:created>
  <dcterms:modified xsi:type="dcterms:W3CDTF">2025-09-26T22:08:47Z</dcterms:modified>
</cp:coreProperties>
</file>